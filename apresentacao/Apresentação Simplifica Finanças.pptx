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17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Relationship Id="rId17" Type="http://schemas.openxmlformats.org/officeDocument/2006/relationships/slide" Target="slides/slide1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03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005840"/>
            <a:ext cx="6858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 Finanças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217627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Distribuído de Gestão Financeira Inclusiva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A3  ·  Sistemas Distribuídos e Mobile  ·  FPB 2026.1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Apresentação: 11/06/2026</a:t>
            </a:r>
            <a:b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Alunos: José Kleivson –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Janary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Victor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Carlos Henrique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23760" y="914400"/>
            <a:ext cx="1691640" cy="3200400"/>
          </a:xfrm>
          <a:prstGeom prst="rect">
            <a:avLst/>
          </a:prstGeom>
          <a:solidFill>
            <a:srgbClr val="0A5C8A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69480" y="1051560"/>
            <a:ext cx="1600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e Contexto Social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0233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Vulnerável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Idosos e aposentados enfrentam dificuldade com aplicativos financeiros complexos.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cheias de jargões técnicos excluem quem mais precisa de controle financeiro.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acessibilidade digital gera insegurança e dependência financeira.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914400"/>
            <a:ext cx="4023360" cy="502920"/>
          </a:xfrm>
          <a:prstGeom prst="rect">
            <a:avLst/>
          </a:prstGeom>
          <a:solidFill>
            <a:srgbClr val="0A5C8A"/>
          </a:solidFill>
          <a:ln w="12700">
            <a:solidFill>
              <a:srgbClr val="0A5C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144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Empreendedores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Pequenos empreendedores e autônomos não têm ferramentas acessíveis de gestão financeira.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e controle de metas demandam soluções profissionais sem custo elevado.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exportação de dados em Excel/PDF para prestação de contas.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Proposta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 Finanças — dois modos em um sistema só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40233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Simples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limpa e acessível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grandes, botões coloridos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jargões técnicos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idosos e iniciantes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4023360" cy="502920"/>
          </a:xfrm>
          <a:prstGeom prst="rect">
            <a:avLst/>
          </a:prstGeom>
          <a:solidFill>
            <a:srgbClr val="0A5C8A"/>
          </a:solidFill>
          <a:ln w="12700">
            <a:solidFill>
              <a:srgbClr val="0A5C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Avançado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87452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e relatórios detalhados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Excel e PDF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por categoria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empreendedores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JWT  ·  Metas financeiras com gamificação  ·  Notificações assíncronas  ·  Relatórios PDF/Excel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Distribuída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777240"/>
            <a:ext cx="2743200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7772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(browser)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0" y="1179576"/>
            <a:ext cx="0" cy="201168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1325880"/>
            <a:ext cx="457200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32588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:3000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1728216"/>
            <a:ext cx="0" cy="201168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920240"/>
            <a:ext cx="7772400" cy="402336"/>
          </a:xfrm>
          <a:prstGeom prst="rect">
            <a:avLst/>
          </a:prstGeom>
          <a:solidFill>
            <a:srgbClr val="1C4F6E"/>
          </a:solidFill>
          <a:ln w="12700">
            <a:solidFill>
              <a:srgbClr val="1C4F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2024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:8000  (JWT · Rate limit · Proxy)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2633472"/>
            <a:ext cx="1572768" cy="658368"/>
          </a:xfrm>
          <a:prstGeom prst="rect">
            <a:avLst/>
          </a:prstGeom>
          <a:solidFill>
            <a:srgbClr val="0A3D5C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633472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965960" y="2633472"/>
            <a:ext cx="1572768" cy="658368"/>
          </a:xfrm>
          <a:prstGeom prst="rect">
            <a:avLst/>
          </a:prstGeom>
          <a:solidFill>
            <a:srgbClr val="0A3D5C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965960" y="2633472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0" y="2633472"/>
            <a:ext cx="1572768" cy="658368"/>
          </a:xfrm>
          <a:prstGeom prst="rect">
            <a:avLst/>
          </a:prstGeom>
          <a:solidFill>
            <a:srgbClr val="0A3D5C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0" y="2633472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:5003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49240" y="2633472"/>
            <a:ext cx="1572768" cy="658368"/>
          </a:xfrm>
          <a:prstGeom prst="rect">
            <a:avLst/>
          </a:prstGeom>
          <a:solidFill>
            <a:srgbClr val="0A3D5C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49240" y="2633472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:5004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40880" y="2633472"/>
            <a:ext cx="1572768" cy="658368"/>
          </a:xfrm>
          <a:prstGeom prst="rect">
            <a:avLst/>
          </a:prstGeom>
          <a:solidFill>
            <a:srgbClr val="0A3D5C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40880" y="2633472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:5005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633472"/>
            <a:ext cx="8357616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14400" y="3429000"/>
            <a:ext cx="7315200" cy="347472"/>
          </a:xfrm>
          <a:prstGeom prst="rect">
            <a:avLst/>
          </a:prstGeom>
          <a:solidFill>
            <a:srgbClr val="102F45"/>
          </a:solidFill>
          <a:ln w="12700">
            <a:solidFill>
              <a:srgbClr val="0A5C8A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914400" y="34290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 ·  filas: transacao_criada  ·  transacao_excluida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931920"/>
            <a:ext cx="1828800" cy="658368"/>
          </a:xfrm>
          <a:prstGeom prst="rect">
            <a:avLst/>
          </a:prstGeom>
          <a:solidFill>
            <a:srgbClr val="103A5F"/>
          </a:solidFill>
          <a:ln w="12700">
            <a:solidFill>
              <a:srgbClr val="0A5C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9319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331720" y="3931920"/>
            <a:ext cx="1828800" cy="658368"/>
          </a:xfrm>
          <a:prstGeom prst="rect">
            <a:avLst/>
          </a:prstGeom>
          <a:solidFill>
            <a:srgbClr val="103A5F"/>
          </a:solidFill>
          <a:ln w="12700">
            <a:solidFill>
              <a:srgbClr val="0A5C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31720" y="39319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 · Metas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43400" y="3931920"/>
            <a:ext cx="1828800" cy="658368"/>
          </a:xfrm>
          <a:prstGeom prst="rect">
            <a:avLst/>
          </a:prstGeom>
          <a:solidFill>
            <a:srgbClr val="103A5F"/>
          </a:solidFill>
          <a:ln w="12700">
            <a:solidFill>
              <a:srgbClr val="0A5C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39319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· Sessões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55080" y="3931920"/>
            <a:ext cx="1828800" cy="658368"/>
          </a:xfrm>
          <a:prstGeom prst="rect">
            <a:avLst/>
          </a:prstGeom>
          <a:solidFill>
            <a:srgbClr val="103A5F"/>
          </a:solidFill>
          <a:ln w="12700">
            <a:solidFill>
              <a:srgbClr val="0A5C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9319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Mensageria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— deploy em nuvem  ·  Docker Compose  ·  Rede bridge interna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Utilizadas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011680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31720" y="822960"/>
            <a:ext cx="2377440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822960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14800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82296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225296"/>
            <a:ext cx="2011680" cy="402336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25296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/ API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331720" y="1225296"/>
            <a:ext cx="2377440" cy="402336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225296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+ Flask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1225296"/>
            <a:ext cx="4114800" cy="402336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225296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rico, leve para microsserviços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1627632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627632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Relacional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331720" y="1627632"/>
            <a:ext cx="2377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162763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1627632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627632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ACID, confiável para dados de usuário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2029968"/>
            <a:ext cx="2011680" cy="402336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02996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/ Documentos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331720" y="2029968"/>
            <a:ext cx="2377440" cy="402336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2029968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7.0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09160" y="2029968"/>
            <a:ext cx="4114800" cy="402336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029968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 de schema, sharding nativo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2432304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432304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/ Sessões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331720" y="2432304"/>
            <a:ext cx="2377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3160" y="2432304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7.2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09160" y="2432304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432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In-memory, TTL, blacklist de tokens JWT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20040" y="2834640"/>
            <a:ext cx="2011680" cy="402336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83464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Mensageria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331720" y="2834640"/>
            <a:ext cx="2377440" cy="402336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23160" y="2834640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3.13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709160" y="2834640"/>
            <a:ext cx="4114800" cy="402336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283464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duráveis, comunicação assíncrona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20040" y="3236976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236976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331720" y="3236976"/>
            <a:ext cx="2377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23160" y="3236976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Scrypt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709160" y="3236976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236976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Stateless, escalável, senhas seguras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20040" y="3639312"/>
            <a:ext cx="2011680" cy="402336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639312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331720" y="3639312"/>
            <a:ext cx="2377440" cy="402336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23160" y="363931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Compose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709160" y="3639312"/>
            <a:ext cx="4114800" cy="402336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3639312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Isolamento, portabilidade, orquestração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20040" y="4041648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404164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nuvem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2331720" y="4041648"/>
            <a:ext cx="2377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23160" y="4041648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4709160" y="4041648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4041648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distribuído via render.yaml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de Sistemas Distribuídos Aplicados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9144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Microsserviços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serviços independentes + API Gateway + Frontend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9144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86868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REST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37760" y="12070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roteia HTTP/JSON entre todos os serviços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1810512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810512"/>
            <a:ext cx="91440" cy="822960"/>
          </a:xfrm>
          <a:prstGeom prst="rect">
            <a:avLst/>
          </a:prstGeom>
          <a:solidFill>
            <a:srgbClr val="0A5C8A"/>
          </a:solidFill>
          <a:ln w="12700">
            <a:solidFill>
              <a:srgbClr val="0A5C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5623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Mensageria Assíncrona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2194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com filas duráveis para eventos de transação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1810512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810512"/>
            <a:ext cx="91440" cy="822960"/>
          </a:xfrm>
          <a:prstGeom prst="rect">
            <a:avLst/>
          </a:prstGeom>
          <a:solidFill>
            <a:srgbClr val="0A5C8A"/>
          </a:solidFill>
          <a:ln w="12700">
            <a:solidFill>
              <a:srgbClr val="0A5C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85623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Distribuído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37760" y="2194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com TTL por serviço (DB 0–4)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2798064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798064"/>
            <a:ext cx="9144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84378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31821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interno do Docker (nomes de container)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2798064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798064"/>
            <a:ext cx="91440" cy="822960"/>
          </a:xfrm>
          <a:prstGeom prst="rect">
            <a:avLst/>
          </a:prstGeom>
          <a:solidFill>
            <a:srgbClr val="0A5C8A"/>
          </a:solidFill>
          <a:ln w="12700">
            <a:solidFill>
              <a:srgbClr val="0A5C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84378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 a Falhas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37760" y="31821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gracioso quando serviço indisponível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3785616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785616"/>
            <a:ext cx="9144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83133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416966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serviço pode ter múltiplas réplicas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0" y="3785616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785616"/>
            <a:ext cx="91440" cy="822960"/>
          </a:xfrm>
          <a:prstGeom prst="rect">
            <a:avLst/>
          </a:prstGeom>
          <a:solidFill>
            <a:srgbClr val="0A5C8A"/>
          </a:solidFill>
          <a:ln w="12700">
            <a:solidFill>
              <a:srgbClr val="0A5C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83133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937760" y="416966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em cada serviço + gateway agregador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Testes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Mecanismos de Segurança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61872"/>
            <a:ext cx="37490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HS256 com expiração de 24h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 de tokens no Redis (logout seguro)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por IP no API Gateway (60 req/min)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criptografadas com Scrypt (salt aleatório)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de rede via Docker Network bridge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sensíveis via .env (nunca commitadas)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800600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 (pytest)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1170432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298448"/>
            <a:ext cx="3840480" cy="438912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31673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TestHealth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83480" y="151790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do gateway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92040" y="1828800"/>
            <a:ext cx="3840480" cy="438912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8470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TestAuth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83480" y="204825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login, JWT, perfil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92040" y="2359152"/>
            <a:ext cx="3840480" cy="438912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3774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TestTransactions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83480" y="25786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saldo, filtros, validações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92040" y="2889504"/>
            <a:ext cx="3840480" cy="438912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9077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TestGoals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83480" y="3108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Metas, depósito, progresso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92040" y="3419856"/>
            <a:ext cx="3840480" cy="438912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4381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TestReports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83480" y="36393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 exportações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3950208"/>
            <a:ext cx="3840480" cy="438912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9684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TestNotifications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83480" y="416966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 notificações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Social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Inclusão Digital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508760"/>
            <a:ext cx="2523744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adaptada para idosos e pessoas com baixa familiaridade tecnológica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grandes, botões coloridos e linguagem simples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barreiras de acesso ao controle financeiro pessoal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14400"/>
            <a:ext cx="2743200" cy="502920"/>
          </a:xfrm>
          <a:prstGeom prst="rect">
            <a:avLst/>
          </a:prstGeom>
          <a:solidFill>
            <a:srgbClr val="0A5C8A"/>
          </a:solidFill>
          <a:ln w="12700">
            <a:solidFill>
              <a:srgbClr val="0A5C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914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Financeira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55848" y="1508760"/>
            <a:ext cx="2523744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que usuários acompanhem receitas, despesas e metas sem depender de terceiros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automáticas alertam sobre gastos fora do padrão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de relatórios facilita prestação de contas e planejamento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914400"/>
            <a:ext cx="2743200" cy="502920"/>
          </a:xfrm>
          <a:prstGeom prst="rect">
            <a:avLst/>
          </a:prstGeom>
          <a:solidFill>
            <a:srgbClr val="1D7A5F"/>
          </a:solidFill>
          <a:ln w="12700">
            <a:solidFill>
              <a:srgbClr val="1D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914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Acessível e Escalável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81928" y="1508760"/>
            <a:ext cx="2523744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gratuito, sem mensalidades ou limitações de uso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distribuída garante alta disponibilidade mesmo com picos de acesso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expandido para novos públicos e funcionalidades com baixo custo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e Melhorias Futuras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atuais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interface web (sem app mobile nativo)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sincronização offline / modo desconectado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integração com Open Banking ou bancos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ainda não usa stack Prometheus/Grafana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orquestração Kubernetes em produção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00600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 futuras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1170432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8016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mobile React Native / Flutter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Open Banking (PIX, extrato)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categorização automática de gastos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monitoramento com Grafana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 com Kubernetes (K8s) + Helm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 múltiplos idiomas (i18n)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965960"/>
            <a:ext cx="6858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 Finanças — Inclusão e tecnologia a serviço da sociedade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A3 · Sistemas Distribuídos e Mobile · FPB 2026.1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Apresentação: 11/06/2026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Me. Pablo Ramon de Lima Pinheiro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nstracao ao Vivo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</p:sp>
      <p:sp>
        <p:nvSpPr>
          <p:cNvPr id="3" name="TituloBar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000" b="1" dirty="0">
                <a:solidFill>
                  <a:srgbClr val="FFFFFF"/>
                </a:solidFill>
                <a:latin typeface="Calibri" pitchFamily="34" charset="0"/>
              </a:rPr>
              <a:t>Demonstração ao Vivo</a:t>
            </a:r>
          </a:p>
        </p:txBody>
      </p:sp>
      <p:sp>
        <p:nvSpPr>
          <p:cNvPr id="4" name="Subtitulo"/>
          <p:cNvSpPr/>
          <p:nvPr/>
        </p:nvSpPr>
        <p:spPr>
          <a:xfrm>
            <a:off x="457200" y="730000"/>
            <a:ext cx="822960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pt-BR" sz="1400" dirty="0">
                <a:solidFill>
                  <a:srgbClr val="94A3B8"/>
                </a:solidFill>
                <a:latin typeface="Calibri" pitchFamily="34" charset="0"/>
              </a:rPr>
              <a:t>Simplifica Finanças rodando em produção · Render.com · simplifica-financas.onrender.com</a:t>
            </a:r>
          </a:p>
        </p:txBody>
      </p:sp>
      <p:sp>
        <p:nvSpPr>
          <p:cNvPr id="5" name="Card1bg"/>
          <p:cNvSpPr/>
          <p:nvPr/>
        </p:nvSpPr>
        <p:spPr>
          <a:xfrm>
            <a:off x="274638" y="1200000"/>
            <a:ext cx="2743200" cy="822960"/>
          </a:xfrm>
          <a:prstGeom prst="rect">
            <a:avLst/>
          </a:prstGeom>
          <a:solidFill>
            <a:srgbClr val="0A2E48"/>
          </a:solidFill>
          <a:ln w="19050">
            <a:solidFill>
              <a:srgbClr val="02C39A"/>
            </a:solidFill>
          </a:ln>
        </p:spPr>
      </p:sp>
      <p:sp>
        <p:nvSpPr>
          <p:cNvPr id="6" name="Card1bar"/>
          <p:cNvSpPr/>
          <p:nvPr/>
        </p:nvSpPr>
        <p:spPr>
          <a:xfrm>
            <a:off x="274638" y="1200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</p:sp>
      <p:sp>
        <p:nvSpPr>
          <p:cNvPr id="7" name="Card1txt"/>
          <p:cNvSpPr/>
          <p:nvPr/>
        </p:nvSpPr>
        <p:spPr>
          <a:xfrm>
            <a:off x="457200" y="1245720"/>
            <a:ext cx="246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dirty="0">
                <a:solidFill>
                  <a:srgbClr val="02C39A"/>
                </a:solidFill>
                <a:latin typeface="Calibri" pitchFamily="34" charset="0"/>
              </a:rPr>
              <a:t>1 — Cadastro e Login</a:t>
            </a:r>
          </a:p>
          <a:p>
            <a:pPr marL="0" indent="0">
              <a:buNone/>
            </a:pPr>
            <a:r>
              <a:rPr lang="pt-BR" sz="950" dirty="0">
                <a:solidFill>
                  <a:srgbClr val="94A3B8"/>
                </a:solidFill>
                <a:latin typeface="Calibri" pitchFamily="34" charset="0"/>
              </a:rPr>
              <a:t>Criar conta e acessar via JWT</a:t>
            </a:r>
          </a:p>
          <a:p>
            <a:pPr marL="0" indent="0">
              <a:buNone/>
            </a:pPr>
            <a:r>
              <a:rPr lang="pt-BR" sz="950" dirty="0">
                <a:solidFill>
                  <a:srgbClr val="94A3B8"/>
                </a:solidFill>
                <a:latin typeface="Calibri" pitchFamily="34" charset="0"/>
              </a:rPr>
              <a:t>Modo Simples vs Avançado</a:t>
            </a:r>
          </a:p>
        </p:txBody>
      </p:sp>
      <p:sp>
        <p:nvSpPr>
          <p:cNvPr id="8" name="Card2bg"/>
          <p:cNvSpPr/>
          <p:nvPr/>
        </p:nvSpPr>
        <p:spPr>
          <a:xfrm>
            <a:off x="3200400" y="1200000"/>
            <a:ext cx="2743200" cy="822960"/>
          </a:xfrm>
          <a:prstGeom prst="rect">
            <a:avLst/>
          </a:prstGeom>
          <a:solidFill>
            <a:srgbClr val="0A2E48"/>
          </a:solidFill>
          <a:ln w="19050">
            <a:solidFill>
              <a:srgbClr val="028090"/>
            </a:solidFill>
          </a:ln>
        </p:spPr>
      </p:sp>
      <p:sp>
        <p:nvSpPr>
          <p:cNvPr id="9" name="Card2bar"/>
          <p:cNvSpPr/>
          <p:nvPr/>
        </p:nvSpPr>
        <p:spPr>
          <a:xfrm>
            <a:off x="3200400" y="1200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</p:sp>
      <p:sp>
        <p:nvSpPr>
          <p:cNvPr id="10" name="Card2txt"/>
          <p:cNvSpPr/>
          <p:nvPr/>
        </p:nvSpPr>
        <p:spPr>
          <a:xfrm>
            <a:off x="3383280" y="1245720"/>
            <a:ext cx="246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dirty="0">
                <a:solidFill>
                  <a:srgbClr val="5BA4CF"/>
                </a:solidFill>
                <a:latin typeface="Calibri" pitchFamily="34" charset="0"/>
              </a:rPr>
              <a:t>2 — Lançar Transação</a:t>
            </a:r>
          </a:p>
          <a:p>
            <a:pPr marL="0" indent="0">
              <a:buNone/>
            </a:pPr>
            <a:r>
              <a:rPr lang="pt-BR" sz="950" dirty="0">
                <a:solidFill>
                  <a:srgbClr val="94A3B8"/>
                </a:solidFill>
                <a:latin typeface="Calibri" pitchFamily="34" charset="0"/>
              </a:rPr>
              <a:t>Receita e despesa com categorias</a:t>
            </a:r>
          </a:p>
          <a:p>
            <a:pPr marL="0" indent="0">
              <a:buNone/>
            </a:pPr>
            <a:r>
              <a:rPr lang="pt-BR" sz="950" dirty="0">
                <a:solidFill>
                  <a:srgbClr val="94A3B8"/>
                </a:solidFill>
                <a:latin typeface="Calibri" pitchFamily="34" charset="0"/>
              </a:rPr>
              <a:t>Evento pub no RabbitMQ em tempo real</a:t>
            </a:r>
          </a:p>
        </p:txBody>
      </p:sp>
      <p:sp>
        <p:nvSpPr>
          <p:cNvPr id="11" name="Card3bg"/>
          <p:cNvSpPr/>
          <p:nvPr/>
        </p:nvSpPr>
        <p:spPr>
          <a:xfrm>
            <a:off x="6126162" y="1200000"/>
            <a:ext cx="2743200" cy="822960"/>
          </a:xfrm>
          <a:prstGeom prst="rect">
            <a:avLst/>
          </a:prstGeom>
          <a:solidFill>
            <a:srgbClr val="0A2E48"/>
          </a:solidFill>
          <a:ln w="19050">
            <a:solidFill>
              <a:srgbClr val="58D68D"/>
            </a:solidFill>
          </a:ln>
        </p:spPr>
      </p:sp>
      <p:sp>
        <p:nvSpPr>
          <p:cNvPr id="12" name="Card3bar"/>
          <p:cNvSpPr/>
          <p:nvPr/>
        </p:nvSpPr>
        <p:spPr>
          <a:xfrm>
            <a:off x="6126162" y="1200000"/>
            <a:ext cx="91440" cy="822960"/>
          </a:xfrm>
          <a:prstGeom prst="rect">
            <a:avLst/>
          </a:prstGeom>
          <a:solidFill>
            <a:srgbClr val="58D68D"/>
          </a:solidFill>
          <a:ln>
            <a:noFill/>
          </a:ln>
        </p:spPr>
      </p:sp>
      <p:sp>
        <p:nvSpPr>
          <p:cNvPr id="13" name="Card3txt"/>
          <p:cNvSpPr/>
          <p:nvPr/>
        </p:nvSpPr>
        <p:spPr>
          <a:xfrm>
            <a:off x="6309042" y="1245720"/>
            <a:ext cx="246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dirty="0">
                <a:solidFill>
                  <a:srgbClr val="58D68D"/>
                </a:solidFill>
                <a:latin typeface="Calibri" pitchFamily="34" charset="0"/>
              </a:rPr>
              <a:t>3 — Criar Meta</a:t>
            </a:r>
          </a:p>
          <a:p>
            <a:pPr marL="0" indent="0">
              <a:buNone/>
            </a:pPr>
            <a:r>
              <a:rPr lang="pt-BR" sz="950" dirty="0">
                <a:solidFill>
                  <a:srgbClr val="94A3B8"/>
                </a:solidFill>
                <a:latin typeface="Calibri" pitchFamily="34" charset="0"/>
              </a:rPr>
              <a:t>Defenir valor alvo e prazo</a:t>
            </a:r>
          </a:p>
          <a:p>
            <a:pPr marL="0" indent="0">
              <a:buNone/>
            </a:pPr>
            <a:r>
              <a:rPr lang="pt-BR" sz="950" dirty="0">
                <a:solidFill>
                  <a:srgbClr val="94A3B8"/>
                </a:solidFill>
                <a:latin typeface="Calibri" pitchFamily="34" charset="0"/>
              </a:rPr>
              <a:t>Gamificação e barra de progresso</a:t>
            </a:r>
          </a:p>
        </p:txBody>
      </p:sp>
      <p:sp>
        <p:nvSpPr>
          <p:cNvPr id="14" name="Card4bg"/>
          <p:cNvSpPr/>
          <p:nvPr/>
        </p:nvSpPr>
        <p:spPr>
          <a:xfrm>
            <a:off x="1737282" y="2160000"/>
            <a:ext cx="2743200" cy="822960"/>
          </a:xfrm>
          <a:prstGeom prst="rect">
            <a:avLst/>
          </a:prstGeom>
          <a:solidFill>
            <a:srgbClr val="0A2E48"/>
          </a:solidFill>
          <a:ln w="19050">
            <a:solidFill>
              <a:srgbClr val="F6B93B"/>
            </a:solidFill>
          </a:ln>
        </p:spPr>
      </p:sp>
      <p:sp>
        <p:nvSpPr>
          <p:cNvPr id="15" name="Card4bar"/>
          <p:cNvSpPr/>
          <p:nvPr/>
        </p:nvSpPr>
        <p:spPr>
          <a:xfrm>
            <a:off x="1737282" y="2160000"/>
            <a:ext cx="91440" cy="822960"/>
          </a:xfrm>
          <a:prstGeom prst="rect">
            <a:avLst/>
          </a:prstGeom>
          <a:solidFill>
            <a:srgbClr val="F6B93B"/>
          </a:solidFill>
          <a:ln>
            <a:noFill/>
          </a:ln>
        </p:spPr>
      </p:sp>
      <p:sp>
        <p:nvSpPr>
          <p:cNvPr id="16" name="Card4txt"/>
          <p:cNvSpPr/>
          <p:nvPr/>
        </p:nvSpPr>
        <p:spPr>
          <a:xfrm>
            <a:off x="1920162" y="2205720"/>
            <a:ext cx="246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dirty="0">
                <a:solidFill>
                  <a:srgbClr val="F6B93B"/>
                </a:solidFill>
                <a:latin typeface="Calibri" pitchFamily="34" charset="0"/>
              </a:rPr>
              <a:t>4 — Exportar Relatório</a:t>
            </a:r>
          </a:p>
          <a:p>
            <a:pPr marL="0" indent="0">
              <a:buNone/>
            </a:pPr>
            <a:r>
              <a:rPr lang="pt-BR" sz="950" dirty="0">
                <a:solidFill>
                  <a:srgbClr val="94A3B8"/>
                </a:solidFill>
                <a:latin typeface="Calibri" pitchFamily="34" charset="0"/>
              </a:rPr>
              <a:t>Gerar PDF ou Excel ao vivo</a:t>
            </a:r>
          </a:p>
          <a:p>
            <a:pPr marL="0" indent="0">
              <a:buNone/>
            </a:pPr>
            <a:r>
              <a:rPr lang="pt-BR" sz="950" dirty="0">
                <a:solidFill>
                  <a:srgbClr val="94A3B8"/>
                </a:solidFill>
                <a:latin typeface="Calibri" pitchFamily="34" charset="0"/>
              </a:rPr>
              <a:t>Download direto pelo browser</a:t>
            </a:r>
          </a:p>
        </p:txBody>
      </p:sp>
      <p:sp>
        <p:nvSpPr>
          <p:cNvPr id="17" name="Card5bg"/>
          <p:cNvSpPr/>
          <p:nvPr/>
        </p:nvSpPr>
        <p:spPr>
          <a:xfrm>
            <a:off x="4663518" y="2160000"/>
            <a:ext cx="2743200" cy="822960"/>
          </a:xfrm>
          <a:prstGeom prst="rect">
            <a:avLst/>
          </a:prstGeom>
          <a:solidFill>
            <a:srgbClr val="0A2E48"/>
          </a:solidFill>
          <a:ln w="19050">
            <a:solidFill>
              <a:srgbClr val="C39BD3"/>
            </a:solidFill>
          </a:ln>
        </p:spPr>
      </p:sp>
      <p:sp>
        <p:nvSpPr>
          <p:cNvPr id="18" name="Card5bar"/>
          <p:cNvSpPr/>
          <p:nvPr/>
        </p:nvSpPr>
        <p:spPr>
          <a:xfrm>
            <a:off x="4663518" y="2160000"/>
            <a:ext cx="91440" cy="822960"/>
          </a:xfrm>
          <a:prstGeom prst="rect">
            <a:avLst/>
          </a:prstGeom>
          <a:solidFill>
            <a:srgbClr val="C39BD3"/>
          </a:solidFill>
          <a:ln>
            <a:noFill/>
          </a:ln>
        </p:spPr>
      </p:sp>
      <p:sp>
        <p:nvSpPr>
          <p:cNvPr id="19" name="Card5txt"/>
          <p:cNvSpPr/>
          <p:nvPr/>
        </p:nvSpPr>
        <p:spPr>
          <a:xfrm>
            <a:off x="4846398" y="2205720"/>
            <a:ext cx="246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dirty="0">
                <a:solidFill>
                  <a:srgbClr val="C39BD3"/>
                </a:solidFill>
                <a:latin typeface="Calibri" pitchFamily="34" charset="0"/>
              </a:rPr>
              <a:t>5 — Health dos Serviços</a:t>
            </a:r>
          </a:p>
          <a:p>
            <a:pPr marL="0" indent="0">
              <a:buNone/>
            </a:pPr>
            <a:r>
              <a:rPr lang="pt-BR" sz="950" dirty="0">
                <a:solidFill>
                  <a:srgbClr val="94A3B8"/>
                </a:solidFill>
                <a:latin typeface="Calibri" pitchFamily="34" charset="0"/>
              </a:rPr>
              <a:t>Gateway /health ao vivo na nuvem</a:t>
            </a:r>
          </a:p>
          <a:p>
            <a:pPr marL="0" indent="0">
              <a:buNone/>
            </a:pPr>
            <a:r>
              <a:rPr lang="pt-BR" sz="950" dirty="0">
                <a:solidFill>
                  <a:srgbClr val="94A3B8"/>
                </a:solidFill>
                <a:latin typeface="Calibri" pitchFamily="34" charset="0"/>
              </a:rPr>
              <a:t>5 microsservicos + RabbitMQ + Redis</a:t>
            </a:r>
          </a:p>
        </p:txBody>
      </p:sp>
      <p:sp>
        <p:nvSpPr>
          <p:cNvPr id="20" name="Nota"/>
          <p:cNvSpPr/>
          <p:nvPr/>
        </p:nvSpPr>
        <p:spPr>
          <a:xfrm>
            <a:off x="274638" y="3200000"/>
            <a:ext cx="8594724" cy="300000"/>
          </a:xfrm>
          <a:prstGeom prst="rect">
            <a:avLst/>
          </a:prstGeom>
          <a:solidFill>
            <a:srgbClr val="0A1929"/>
          </a:solidFill>
          <a:ln w="12700">
            <a:solidFill>
              <a:srgbClr val="1E4A6E"/>
            </a:solidFill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pt-BR" sz="900" dirty="0">
                <a:solidFill>
                  <a:srgbClr val="475569"/>
                </a:solidFill>
                <a:latin typeface="Calibri" pitchFamily="34" charset="0"/>
              </a:rPr>
              <a:t>Acessar o sistema 10 min antes da apresentação para ativar os serviços no Render.com (plano free hiberna após ociosidade)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750</Words>
  <Application>Microsoft Office PowerPoint</Application>
  <PresentationFormat>Apresentação na tela (16:9)</PresentationFormat>
  <Paragraphs>170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Simplifica Financas — Projeto A3</dc:title>
  <dc:subject>PptxGenJS Presentation</dc:subject>
  <dc:creator>FPB 2026.1</dc:creator>
  <cp:lastModifiedBy>kleivson freitas</cp:lastModifiedBy>
  <cp:revision>2</cp:revision>
  <dcterms:created xsi:type="dcterms:W3CDTF">2026-05-28T22:04:33Z</dcterms:created>
  <dcterms:modified xsi:type="dcterms:W3CDTF">2026-05-28T22:08:07Z</dcterms:modified>
</cp:coreProperties>
</file>